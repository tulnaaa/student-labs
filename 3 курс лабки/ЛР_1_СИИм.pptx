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3"/>
    <p:sldId id="272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</p:sldIdLst>
  <p:sldSz cx="12192000" cy="6858000"/>
  <p:notesSz cx="6858000" cy="9144000"/>
  <p:embeddedFontLst>
    <p:embeddedFont>
      <p:font typeface="Nunito Sans" charset="0"/>
      <p:regular r:id="rId25"/>
      <p:bold r:id="rId26"/>
      <p:italic r:id="rId27"/>
      <p:boldItalic r:id="rId28"/>
    </p:embeddedFont>
    <p:embeddedFont>
      <p:font typeface="Nunito Sans Light" charset="0"/>
      <p:regular r:id="rId29"/>
      <p:italic r:id="rId30"/>
    </p:embeddedFont>
    <p:embeddedFont>
      <p:font typeface="Nunito Sans ExtraBold" charset="0"/>
      <p:bold r:id="rId31"/>
    </p:embeddedFont>
    <p:embeddedFont>
      <p:font typeface="Open Sans ExtraBold" panose="020B0906030804020204" charset="0"/>
      <p:bold r:id="rId32"/>
    </p:embeddedFont>
    <p:embeddedFont>
      <p:font typeface="Tahoma" panose="020B0604030504040204" pitchFamily="34" charset="0"/>
      <p:regular r:id="rId33"/>
    </p:embeddedFont>
  </p:embeddedFontLst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2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BBC1"/>
    <a:srgbClr val="A5CDD1"/>
    <a:srgbClr val="D1E5EA"/>
    <a:srgbClr val="F8FAF9"/>
    <a:srgbClr val="E6E6E6"/>
    <a:srgbClr val="4472C4"/>
    <a:srgbClr val="4C47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291" autoAdjust="0"/>
  </p:normalViewPr>
  <p:slideViewPr>
    <p:cSldViewPr snapToGrid="0" showGuides="1">
      <p:cViewPr>
        <p:scale>
          <a:sx n="50" d="100"/>
          <a:sy n="50" d="100"/>
        </p:scale>
        <p:origin x="1664" y="904"/>
      </p:cViewPr>
      <p:guideLst>
        <p:guide orient="horz" pos="2082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6.xml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Nunito Sans ExtraBold" charset="0"/>
                <a:ea typeface="Nunito Sans" charset="0"/>
                <a:cs typeface="Nunito Sans" charset="0"/>
              </a:rPr>
            </a:fld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Nunito Sans ExtraBold" charset="0"/>
                <a:ea typeface="Nunito Sans" charset="0"/>
                <a:cs typeface="Nunito Sans" charset="0"/>
              </a:rPr>
            </a:fld>
            <a:endParaRPr lang="zh-CN" altLang="en-US">
              <a:latin typeface="Nunito Sans ExtraBold" charset="0"/>
              <a:ea typeface="Nunito Sans" charset="0"/>
              <a:cs typeface="Nunito Sans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443EBE89-AAC7-48B1-92F5-A99283D773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7CC1DC1D-7B54-4897-BDCA-22D6E8D80F1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unito Sans" charset="0"/>
        <a:ea typeface="Nunito Sans" charset="0"/>
        <a:cs typeface="Nunito Sans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ACB7F206-C3C8-4DAB-991D-51FD0EFA122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unito Sans" charset="0"/>
                <a:ea typeface="Nunito Sans" charset="0"/>
                <a:cs typeface="Nunito Sans" charset="0"/>
              </a:defRPr>
            </a:lvl1pPr>
          </a:lstStyle>
          <a:p>
            <a:fld id="{0B6C3033-526C-412E-BF43-826F46C4C7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unito Sans Light" charset="0"/>
          <a:ea typeface="Nunito Sans Light" charset="0"/>
          <a:cs typeface="Nunito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unito Sans" charset="0"/>
          <a:ea typeface="Nunito Sans" charset="0"/>
          <a:cs typeface="Nunito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1002" y="1742741"/>
            <a:ext cx="4147954" cy="861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zh-CN" sz="8000" b="1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Open Sans ExtraBold" panose="020B0906030804020204" charset="0"/>
                <a:ea typeface="Nunito Sans" charset="0"/>
                <a:cs typeface="Open Sans ExtraBold" panose="020B0906030804020204" charset="0"/>
              </a:rPr>
              <a:t>РОЛИ</a:t>
            </a:r>
            <a:endParaRPr lang="ru-RU" altLang="zh-CN" sz="8000" b="1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Open Sans ExtraBold" panose="020B0906030804020204" charset="0"/>
              <a:ea typeface="Nunito Sans" charset="0"/>
              <a:cs typeface="Open Sans ExtraBold" panose="020B09060308040202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788920"/>
            <a:ext cx="4022725" cy="91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ИЛЬИНА ЮЛИАНА</a:t>
            </a:r>
            <a:endParaRPr lang="ru-RU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600835" y="2477135"/>
            <a:ext cx="71773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17" name="矩形 1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19" name="图片 1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578100" y="-2241550"/>
            <a:ext cx="6845300" cy="117221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777875" y="419735"/>
            <a:ext cx="10750550" cy="5892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4126230" y="1717675"/>
            <a:ext cx="393890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sz="6600" b="1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Nunito Sans ExtraBold" charset="0"/>
                <a:ea typeface="Nunito Sans ExtraBold" charset="0"/>
                <a:cs typeface="Nunito Sans" charset="0"/>
              </a:rPr>
              <a:t>ХЕЛСНЕТ</a:t>
            </a:r>
            <a:endParaRPr lang="ru-RU" altLang="en-US" sz="6600" b="1" spc="-300" dirty="0">
              <a:solidFill>
                <a:schemeClr val="tx1">
                  <a:lumMod val="50000"/>
                  <a:lumOff val="50000"/>
                </a:schemeClr>
              </a:solidFill>
              <a:latin typeface="Nunito Sans ExtraBold" charset="0"/>
              <a:ea typeface="Nunito Sans ExtraBold" charset="0"/>
              <a:cs typeface="Nunito Sans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506980" y="2824480"/>
            <a:ext cx="71773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1673860" y="3023235"/>
            <a:ext cx="895858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Рынок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персонализированных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медицинских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услуг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лекарств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для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обеспечения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роста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продолжительности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жизни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получения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новых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эффективных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средств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профилактики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лечения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различных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заболеваний</a:t>
            </a:r>
            <a:r>
              <a:rPr lang="en-US" altLang="ru-RU" sz="3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3200" b="0" i="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3" name="Freeform 5"/>
          <p:cNvSpPr/>
          <p:nvPr/>
        </p:nvSpPr>
        <p:spPr>
          <a:xfrm>
            <a:off x="5334000" y="725593"/>
            <a:ext cx="1524000" cy="886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78" y="16267"/>
                </a:moveTo>
                <a:cubicBezTo>
                  <a:pt x="20978" y="15467"/>
                  <a:pt x="20823" y="14933"/>
                  <a:pt x="20357" y="14933"/>
                </a:cubicBezTo>
                <a:cubicBezTo>
                  <a:pt x="20357" y="7200"/>
                  <a:pt x="20357" y="7200"/>
                  <a:pt x="20357" y="7200"/>
                </a:cubicBezTo>
                <a:cubicBezTo>
                  <a:pt x="21600" y="6400"/>
                  <a:pt x="21600" y="6400"/>
                  <a:pt x="21600" y="6400"/>
                </a:cubicBezTo>
                <a:cubicBezTo>
                  <a:pt x="10878" y="0"/>
                  <a:pt x="10878" y="0"/>
                  <a:pt x="10878" y="0"/>
                </a:cubicBezTo>
                <a:cubicBezTo>
                  <a:pt x="0" y="6400"/>
                  <a:pt x="0" y="6400"/>
                  <a:pt x="0" y="6400"/>
                </a:cubicBezTo>
                <a:cubicBezTo>
                  <a:pt x="10878" y="12800"/>
                  <a:pt x="10878" y="12800"/>
                  <a:pt x="10878" y="12800"/>
                </a:cubicBezTo>
                <a:cubicBezTo>
                  <a:pt x="19735" y="7467"/>
                  <a:pt x="19735" y="7467"/>
                  <a:pt x="19735" y="7467"/>
                </a:cubicBezTo>
                <a:cubicBezTo>
                  <a:pt x="19735" y="14933"/>
                  <a:pt x="19735" y="14933"/>
                  <a:pt x="19735" y="14933"/>
                </a:cubicBezTo>
                <a:cubicBezTo>
                  <a:pt x="19424" y="14933"/>
                  <a:pt x="19114" y="15467"/>
                  <a:pt x="19114" y="16267"/>
                </a:cubicBezTo>
                <a:cubicBezTo>
                  <a:pt x="19114" y="16800"/>
                  <a:pt x="19424" y="17067"/>
                  <a:pt x="19580" y="17067"/>
                </a:cubicBezTo>
                <a:cubicBezTo>
                  <a:pt x="19114" y="21600"/>
                  <a:pt x="19114" y="21600"/>
                  <a:pt x="19114" y="21600"/>
                </a:cubicBezTo>
                <a:cubicBezTo>
                  <a:pt x="20978" y="21600"/>
                  <a:pt x="20978" y="21600"/>
                  <a:pt x="20978" y="21600"/>
                </a:cubicBezTo>
                <a:cubicBezTo>
                  <a:pt x="20512" y="17067"/>
                  <a:pt x="20512" y="17067"/>
                  <a:pt x="20512" y="17067"/>
                </a:cubicBezTo>
                <a:cubicBezTo>
                  <a:pt x="20823" y="17067"/>
                  <a:pt x="20978" y="16800"/>
                  <a:pt x="20978" y="16267"/>
                </a:cubicBezTo>
                <a:close/>
                <a:moveTo>
                  <a:pt x="4351" y="11200"/>
                </a:moveTo>
                <a:cubicBezTo>
                  <a:pt x="4351" y="18400"/>
                  <a:pt x="4351" y="18400"/>
                  <a:pt x="4351" y="18400"/>
                </a:cubicBezTo>
                <a:cubicBezTo>
                  <a:pt x="4351" y="20267"/>
                  <a:pt x="7304" y="21600"/>
                  <a:pt x="10878" y="21600"/>
                </a:cubicBezTo>
                <a:cubicBezTo>
                  <a:pt x="14296" y="21600"/>
                  <a:pt x="17249" y="20267"/>
                  <a:pt x="17249" y="18400"/>
                </a:cubicBezTo>
                <a:cubicBezTo>
                  <a:pt x="17249" y="11200"/>
                  <a:pt x="17249" y="11200"/>
                  <a:pt x="17249" y="11200"/>
                </a:cubicBezTo>
                <a:cubicBezTo>
                  <a:pt x="10878" y="14933"/>
                  <a:pt x="10878" y="14933"/>
                  <a:pt x="10878" y="14933"/>
                </a:cubicBezTo>
                <a:lnTo>
                  <a:pt x="4351" y="11200"/>
                </a:lnTo>
                <a:close/>
              </a:path>
            </a:pathLst>
          </a:custGeom>
          <a:solidFill>
            <a:schemeClr val="tx1">
              <a:lumMod val="65000"/>
              <a:lumOff val="35000"/>
              <a:alpha val="85000"/>
            </a:schemeClr>
          </a:solidFill>
          <a:ln w="7620" cap="flat">
            <a:noFill/>
            <a:prstDash val="solid"/>
            <a:miter/>
          </a:ln>
        </p:spPr>
        <p:txBody>
          <a:bodyPr wrap="square" lIns="91439" tIns="91439" rIns="91439" bIns="91439" numCol="1" anchor="t">
            <a:noAutofit/>
          </a:bodyPr>
          <a:lstStyle/>
          <a:p>
            <a:endParaRPr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220" y="751205"/>
            <a:ext cx="10686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КЛЮЧЕВЫЕ</a:t>
            </a:r>
            <a:r>
              <a:rPr lang="en-US" altLang="ru-R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СЕГМЕНТЫ</a:t>
            </a:r>
            <a:r>
              <a:rPr lang="en-US" altLang="ru-R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РЫНКА</a:t>
            </a:r>
            <a:r>
              <a:rPr lang="ru-RU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ru-RU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ХЕЛСНЕТ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7700" y="1390650"/>
            <a:ext cx="1105344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Превентивная</a:t>
            </a:r>
            <a:r>
              <a:rPr lang="en-US" alt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медицина</a:t>
            </a:r>
            <a:endParaRPr lang="en-US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Предотвращение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развити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й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заболеваний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учетом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индивидуального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подхода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диагностике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лечению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реабилитации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endParaRPr lang="en-US" altLang="ru-RU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Спорт</a:t>
            </a:r>
            <a:r>
              <a:rPr lang="en-US" alt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здоровье</a:t>
            </a:r>
            <a:endParaRPr lang="en-US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величени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резервов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здоровья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формирование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рекомендаций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ru-RU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endParaRPr lang="en-US" altLang="ru-RU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Медицинская</a:t>
            </a:r>
            <a:r>
              <a:rPr lang="en-US" alt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генетика</a:t>
            </a:r>
            <a:endParaRPr lang="en-US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енетическая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диагностика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биоинформатика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генная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терапия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фармакогенетика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раннее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выявление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профилактика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наследственных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заболеваний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endParaRPr lang="en-US" altLang="ru-RU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Информационные</a:t>
            </a:r>
            <a:r>
              <a:rPr lang="en-US" alt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технологии</a:t>
            </a:r>
            <a:r>
              <a:rPr lang="en-US" alt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медицине</a:t>
            </a:r>
            <a:endParaRPr lang="en-US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роектировани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реализаци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я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устройств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сервисов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мониторингу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коррекции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состояния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человека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endParaRPr lang="en-US" altLang="ru-RU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Здоровое</a:t>
            </a:r>
            <a:r>
              <a:rPr lang="en-US" altLang="ru-RU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долголетие</a:t>
            </a:r>
            <a:endParaRPr lang="en-US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родление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периода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здоровой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жизни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человека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отдаление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наступления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болезней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поздний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срок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счет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результатов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исследований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endParaRPr lang="en-US" altLang="ru-RU"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en-US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Биомедицина</a:t>
            </a:r>
            <a:endParaRPr lang="en-US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иопротез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ы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искусственны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е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орган</a:t>
            </a:r>
            <a:r>
              <a:rPr lang="ru-RU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ы,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включает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направления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инженерной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биологии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человека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животных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растений</a:t>
            </a:r>
            <a:r>
              <a:rPr lang="en-US" altLang="ru-RU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220" y="751205"/>
            <a:ext cx="10686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</a:t>
            </a:r>
            <a:r>
              <a:rPr lang="ru-RU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ОМПАНИИ УЧАСТНИКИ</a:t>
            </a:r>
            <a:r>
              <a:rPr lang="en-US" altLang="ru-R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РЫНКА</a:t>
            </a:r>
            <a:r>
              <a:rPr lang="ru-RU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ru-RU" altLang="zh-CN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ХЕЛСНЕТ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75665" y="2162175"/>
            <a:ext cx="1042352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ПАО</a:t>
            </a: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«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Институт</a:t>
            </a: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стволовых</a:t>
            </a: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клеток</a:t>
            </a: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человека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»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Производит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генотерапевтический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препарат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«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Неоваскулген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»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endParaRPr lang="en-US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«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СберМедИИ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»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Разрабатывает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внедряет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повседневную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практику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учреждений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всей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стране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сервисы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базе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искусственного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интеллекта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endParaRPr lang="en-US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ООО</a:t>
            </a: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«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Некстген</a:t>
            </a:r>
            <a:r>
              <a:rPr lang="en-US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»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Генеральный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директор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компании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член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совета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директоров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ПАО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«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Институт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стволовых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клеток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человека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»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соруководитель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направления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«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Медицинская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генетика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»</a:t>
            </a:r>
            <a:endParaRPr lang="en-US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17" name="矩形 1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19" name="图片 1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578100" y="-2241550"/>
            <a:ext cx="6845300" cy="117221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777875" y="419735"/>
            <a:ext cx="10750550" cy="5892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3313430" y="1478280"/>
            <a:ext cx="55651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ru-RU" sz="7200" b="1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unito Sans ExtraBold" charset="0"/>
                <a:cs typeface="+mj-lt"/>
              </a:rPr>
              <a:t>Prognosys</a:t>
            </a:r>
            <a:r>
              <a:rPr lang="ru-RU" altLang="en-US" sz="7200" b="1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unito Sans ExtraBold" charset="0"/>
                <a:cs typeface="+mj-lt"/>
              </a:rPr>
              <a:t> </a:t>
            </a:r>
            <a:r>
              <a:rPr lang="en-US" altLang="ru-RU" sz="7200" b="1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Nunito Sans ExtraBold" charset="0"/>
                <a:cs typeface="+mj-lt"/>
              </a:rPr>
              <a:t>Health</a:t>
            </a:r>
            <a:endParaRPr lang="en-US" altLang="ru-RU" sz="7200" b="1" spc="-3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Nunito Sans ExtraBold" charset="0"/>
              <a:cs typeface="+mj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2109470" y="4294505"/>
            <a:ext cx="7973060" cy="190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331085" y="4678045"/>
            <a:ext cx="7643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tx1">
                    <a:lumMod val="65000"/>
                    <a:lumOff val="35000"/>
                  </a:schemeClr>
                </a:solidFill>
                <a:ea typeface="Oswald"/>
                <a:cs typeface="+mn-lt"/>
                <a:sym typeface="Oswald"/>
              </a:rPr>
              <a:t>Искусственный интеллект (модуль)</a:t>
            </a:r>
            <a:r>
              <a:rPr lang="ru-RU" sz="3200" dirty="0">
                <a:solidFill>
                  <a:schemeClr val="bg2">
                    <a:lumMod val="2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lang="ru-RU" altLang="ru-RU" sz="3200" b="0" i="0" dirty="0">
              <a:solidFill>
                <a:schemeClr val="bg2">
                  <a:lumMod val="25000"/>
                </a:schemeClr>
              </a:solidFill>
              <a:effectLst/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220" y="751205"/>
            <a:ext cx="10686415" cy="150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tx1">
                    <a:lumMod val="65000"/>
                    <a:lumOff val="35000"/>
                  </a:schemeClr>
                </a:solidFill>
                <a:ea typeface="Tahoma" panose="020B0604030504040204" pitchFamily="34" charset="0"/>
                <a:cs typeface="+mn-lt"/>
              </a:rPr>
              <a:t>ФОРМУЛИРОВКА РЕШАЕМОЙ ПРОБЛЕМЫ, ОПИСАНИЕ ПРОБЛЕМНОЙ СИТУАЦИИ</a:t>
            </a:r>
            <a:endParaRPr lang="ru-RU" sz="3200" b="1" dirty="0">
              <a:solidFill>
                <a:schemeClr val="tx1">
                  <a:lumMod val="65000"/>
                  <a:lumOff val="35000"/>
                </a:schemeClr>
              </a:solidFill>
              <a:ea typeface="Tahoma" panose="020B0604030504040204" pitchFamily="34" charset="0"/>
              <a:cs typeface="+mn-lt"/>
            </a:endParaRPr>
          </a:p>
          <a:p>
            <a:pPr algn="ctr"/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977265" y="2655570"/>
            <a:ext cx="102558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  <a:cs typeface="+mn-lt"/>
              </a:rPr>
              <a:t>Проблема</a:t>
            </a:r>
            <a:r>
              <a:rPr lang="en-US" altLang="ru-RU" sz="2000" b="1">
                <a:solidFill>
                  <a:schemeClr val="tx1">
                    <a:lumMod val="75000"/>
                    <a:lumOff val="25000"/>
                  </a:schemeClr>
                </a:solidFill>
                <a:cs typeface="+mn-lt"/>
              </a:rPr>
              <a:t>: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Разрозненость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медицинских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данных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оборудования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препятствует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быстрой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диагностике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ставит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под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угрозу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качество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лечения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.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  <a:cs typeface="+mn-lt"/>
              </a:rPr>
              <a:t>Описание</a:t>
            </a:r>
            <a:r>
              <a:rPr lang="en-US" altLang="ru-RU" sz="2000" b="1">
                <a:solidFill>
                  <a:schemeClr val="tx1">
                    <a:lumMod val="75000"/>
                    <a:lumOff val="25000"/>
                  </a:schemeClr>
                </a:solidFill>
                <a:cs typeface="+mn-lt"/>
              </a:rPr>
              <a:t>: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Э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то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интегрированная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отечественная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платформа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объединяющая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медицинские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устройства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телемедицинские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сервисы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электронные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карты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пациентов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.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Благодаря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встроенным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системам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искусственного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интеллекта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платформа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способна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самостоятельно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анализировать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результаты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анализов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медицинскую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карту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обеспечивая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комплексную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диагностику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мониторинг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здоровья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.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220" y="751205"/>
            <a:ext cx="10686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ЦЕЛЬ ПРОЕКТА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46480" y="2162175"/>
            <a:ext cx="987361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Создание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национальной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платформы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для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формирования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единой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базы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медицинских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данных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Эта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база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оснащенная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интеллектуальными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системами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сможет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самостоятельно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анализировать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анализы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медицинские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карты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пациентов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что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позволит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проводить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углубленный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анализ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здоровья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населения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Результатом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станет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повышение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эффективности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профилактических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мер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снижение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нагрузки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систему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здравоохранения</a:t>
            </a:r>
            <a:r>
              <a:rPr lang="en-US" alt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24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220" y="751205"/>
            <a:ext cx="106864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ЗАДАЧИ ПРОЕКТА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24840" y="1530985"/>
            <a:ext cx="1110234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1.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Разработать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запустить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масштабируемую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базу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данных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способную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агрегировать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обрабатывать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медицинскую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информацию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здоровье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населения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всей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страны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2.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Развернуть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системы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искусственного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интеллекта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которые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будут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анализировать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результаты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лабораторных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исследований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содержимое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электронных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</a:t>
            </a:r>
            <a:r>
              <a:rPr lang="ru-RU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д.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карт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пациентов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3.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Разработать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надежную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архитектуру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платформы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гарантирующую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безопасность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конфиденциальность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защиту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персональных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данных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возможностью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дальнейшего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масштабирования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4.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Обеспечить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интеграцию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отечественного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оборудования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существующих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информационных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систем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телемедицинских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сервисов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для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автоматизированного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сбора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данных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5.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Разработать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внедрить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функциональные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телемедицинские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платформы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предоставляющие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услуги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удаленного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консультирования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диагностики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особенно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для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жителей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отдаленных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регионов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ru-RU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6</a:t>
            </a:r>
            <a:r>
              <a:rPr lang="en-US" altLang="ru-RU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Провести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обучение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персонала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для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обеспечения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эффективного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использования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цифровых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технологий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сервисов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3110" y="751205"/>
            <a:ext cx="10686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ДАТА-СЕТ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88315" y="1459230"/>
            <a:ext cx="378269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ru-RU" altLang="en-US" b="1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ИСТОЧНИКИ ДАННЫХ</a:t>
            </a:r>
            <a:r>
              <a:rPr lang="en-US" altLang="ru-RU" b="1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: </a:t>
            </a:r>
            <a:endParaRPr lang="en-US" altLang="ru-RU" b="1" dirty="0">
              <a:solidFill>
                <a:schemeClr val="tx1">
                  <a:lumMod val="65000"/>
                  <a:lumOff val="35000"/>
                </a:schemeClr>
              </a:solidFill>
              <a:ea typeface="Nunito Sans" charset="0"/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- </a:t>
            </a:r>
            <a:r>
              <a:rPr lang="ru-RU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ЭЛЕКТРОННЫЕ МЕДЕЦИНСКИЕ КАРТЫ</a:t>
            </a:r>
            <a:r>
              <a:rPr lang="en-US" altLang="ru-RU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 </a:t>
            </a:r>
            <a:endParaRPr lang="en-US" altLang="ru-RU" dirty="0">
              <a:solidFill>
                <a:schemeClr val="tx1">
                  <a:lumMod val="65000"/>
                  <a:lumOff val="35000"/>
                </a:schemeClr>
              </a:solidFill>
              <a:ea typeface="Nunito Sans" charset="0"/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- </a:t>
            </a:r>
            <a:r>
              <a:rPr lang="ru-RU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МЕДИЦИНСКИЕ УСТРОЙСТВА И ДАТЧИКИ</a:t>
            </a:r>
            <a:r>
              <a:rPr lang="en-US" altLang="ru-RU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 (</a:t>
            </a:r>
            <a:r>
              <a:rPr lang="ru-RU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ФИТНЕС</a:t>
            </a:r>
            <a:r>
              <a:rPr lang="en-US" altLang="ru-RU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-</a:t>
            </a:r>
            <a:r>
              <a:rPr lang="ru-RU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ТРЕКЕРЫ</a:t>
            </a:r>
            <a:r>
              <a:rPr lang="en-US" altLang="ru-RU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, </a:t>
            </a:r>
            <a:r>
              <a:rPr lang="ru-RU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ЛАБОРАТОРНОЕ ОБОРУДОВАНИЕ</a:t>
            </a:r>
            <a:r>
              <a:rPr lang="en-US" altLang="ru-RU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) </a:t>
            </a:r>
            <a:endParaRPr lang="en-US" altLang="ru-RU" dirty="0">
              <a:solidFill>
                <a:schemeClr val="tx1">
                  <a:lumMod val="65000"/>
                  <a:lumOff val="35000"/>
                </a:schemeClr>
              </a:solidFill>
              <a:ea typeface="Nunito Sans" charset="0"/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- </a:t>
            </a:r>
            <a:r>
              <a:rPr lang="ru-RU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РЕГИОНАЛЬНЫ И НАЦИОНАЛЬНЫЕ МЕДИЦИНСКИЕ РЕГИСТРЫ</a:t>
            </a:r>
            <a:endParaRPr lang="en-US" altLang="ru-RU" dirty="0">
              <a:solidFill>
                <a:schemeClr val="tx1">
                  <a:lumMod val="65000"/>
                  <a:lumOff val="35000"/>
                </a:schemeClr>
              </a:solidFill>
              <a:ea typeface="Nunito Sans" charset="0"/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- </a:t>
            </a:r>
            <a:r>
              <a:rPr lang="ru-RU" altLang="en-US" dirty="0">
                <a:solidFill>
                  <a:schemeClr val="tx1">
                    <a:lumMod val="65000"/>
                    <a:lumOff val="35000"/>
                  </a:schemeClr>
                </a:solidFill>
                <a:ea typeface="Nunito Sans" charset="0"/>
                <a:cs typeface="+mn-lt"/>
              </a:rPr>
              <a:t>ТЕЛЕМЕДИЦИНСКИЕ ПЛАТФОРМЫ И КОНСУЛЬТАЦИИ</a:t>
            </a:r>
            <a:endParaRPr lang="ru-RU" altLang="en-US" sz="2400" dirty="0">
              <a:solidFill>
                <a:schemeClr val="tx1">
                  <a:lumMod val="65000"/>
                  <a:lumOff val="35000"/>
                </a:schemeClr>
              </a:solidFill>
              <a:ea typeface="Nunito Sans" charset="0"/>
              <a:cs typeface="+mn-lt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4983480" y="1840230"/>
            <a:ext cx="4055110" cy="472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ru-RU" altLang="en-US">
              <a:latin typeface="+mn-ea"/>
              <a:cs typeface="+mn-ea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4271010" y="1459230"/>
            <a:ext cx="399415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en-US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КАКИЕ</a:t>
            </a:r>
            <a:r>
              <a:rPr lang="en-US" altLang="ru-RU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ДАННЫЕ</a:t>
            </a:r>
            <a:r>
              <a:rPr lang="en-US" altLang="ru-RU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СОБИРАЮТСЯ</a:t>
            </a:r>
            <a:r>
              <a:rPr lang="en-US" altLang="ru-RU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: </a:t>
            </a:r>
            <a:endParaRPr lang="en-US" altLang="ru-RU" b="1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ПЕРСОНАЛЬНЫЕ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ДАННЫЕ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(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ФИО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,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ВОЗРАСТ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,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ПОЛ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) </a:t>
            </a:r>
            <a:endParaRPr lang="en-US" altLang="ru-RU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ИСТОРИЯ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ЗАБОЛЕВАНИЙ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ДИАГНОЗЫ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endParaRPr lang="en-US" altLang="ru-RU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ПОКАЗАТЕЛИ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ЖИЗНЕННЫХ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ФУНКЦИЙ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(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АРТЕРИАЛЬНОЕ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ДАВЛЕНИЕ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,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ПУЛЬС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,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ТЕМПЕРАТУРА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,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УРОВЕНЬ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САХАРА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Т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.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Д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.) </a:t>
            </a:r>
            <a:endParaRPr lang="en-US" altLang="ru-RU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РЕЗУЛЬТАТЫ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ЛАБОРАТОРНЫХ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АНАЛИЗОВ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endParaRPr lang="en-US" altLang="ru-RU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ДАННЫЕ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О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ДОЗИРОВКАХ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ПРИЁМЕ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ЛЕКАРСТВ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endParaRPr lang="en-US" altLang="ru-RU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ВРЕМЯ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ГЕОЛОКАЦИЯ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ПРИ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КОНСУЛЬТАЦИЯХ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ДИАГНОСТИКАХ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  <a:sym typeface="+mn-ea"/>
              </a:rPr>
              <a:t> </a:t>
            </a:r>
            <a:endParaRPr lang="ru-RU" altLang="en-US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endParaRPr lang="ru-RU" altLang="en-US">
              <a:cs typeface="+mn-lt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420100" y="1459230"/>
            <a:ext cx="325056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КАК</a:t>
            </a:r>
            <a:r>
              <a:rPr lang="en-US" altLang="ru-RU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ИЗМЕРЯЮТСЯ</a:t>
            </a:r>
            <a:r>
              <a:rPr lang="en-US" altLang="ru-RU" b="1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endParaRPr lang="en-US" altLang="ru-RU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ИЗМЕРЕНИЯ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С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ПОМОЩЬЮ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МЕДИЦИНСКИХ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ПРИБОРОВ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ГЛЮКОМЕТРЫ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ТОНОМЕТРЫ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ПУЛЬСОМЕТРЫ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endParaRPr lang="en-US" altLang="ru-RU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ОПРОСЫ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АНКЕТЫ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ДЛЯ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ОЦЕНКИ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СИМПТОМОВ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ОБРАЗА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ЖИЗНИ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АВТОМАТИЧЕСКИЙ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СБОР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ДАННЫХ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С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НОСИМЫХ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УСТРОЙСТВ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ДАТЧИКОВ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ВВОД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ДАННЫХ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ВРАЧАМИ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ВРУЧНУЮ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ПОСЛЕ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ОБСЛЕДОВАНИЙ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ОСМОТРОВ</a:t>
            </a: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0080" y="751205"/>
            <a:ext cx="10686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ru-RU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СПОЛЬЗУЕМЫЕ ТЕХНОЛОГИИ</a:t>
            </a:r>
            <a:r>
              <a:rPr lang="en-US" alt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ru-RU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ИИ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4983480" y="1840230"/>
            <a:ext cx="4055110" cy="472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ru-RU" altLang="en-US">
              <a:latin typeface="+mn-ea"/>
              <a:cs typeface="+mn-ea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050290" y="1581150"/>
            <a:ext cx="453771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ru-RU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СПОЛЬЗУЕМЫЕ ТЕХНОЛОГИИ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ИИ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:</a:t>
            </a:r>
            <a:endParaRPr lang="en-US" altLang="ru-RU" sz="2000" b="1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МАШИННОЕ ОБУЧЕНИЕ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Н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ЕЙРОННЫЕ СЕТИ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Г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ЛУБОКОЕ ОБУЧЕНИЕ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БРАБОТКА ЕСТЕСТВЕННОГО ЯЗЫКА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К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ОМПЬЮТЕРНОЕ ЗРЕНИЕ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ИНТЕЗ РЕЧИ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Г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ЕНЕТИЧЕСКИЕ АЛГОРИТМЫ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БУЧЕНИЕ С ПОДКРЕПЛЕНИЕМ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Э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КСПЕРТНЫЕ СИСТЕМЫ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Н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ЕЧЕТНАЯ ЛОГИКА</a:t>
            </a:r>
            <a:endParaRPr lang="en-US" altLang="en-US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endParaRPr lang="en-US" altLang="en-US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744970" y="1581150"/>
            <a:ext cx="425196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СОПУТСТВУЮЩИЕ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СКВОЗНЫЕ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ТЕХНОЛОГИИ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БОЛЬШИЕ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ДАННЫЕ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СИСТЕМЫ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РАСПРЕДЕЛЕННОГО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РЕЕСТРА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ТЕХНОЛОГИИ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БЕСПРОВОДНОЙ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СВЯЗИ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СЕНСОРИКА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КОМПОНЕНТЫ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РОБОТОТЕХНИКИ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ТЕХНОЛОГИИ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УПРАВЛЕНИЯ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СВОЙСТВАМИ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БИОЛОГИЧЕСКИХ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ОБЪЕКТОВ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НЕЙРОТЕХНОЛОГИИ</a:t>
            </a:r>
            <a:endParaRPr lang="en-US" alt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0080" y="751205"/>
            <a:ext cx="10686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КОНЦЕПЦИЯ ТЕХНИЧЕСКОГО ЗАДАНИЯ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4983480" y="1840230"/>
            <a:ext cx="4055110" cy="472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ru-RU" altLang="en-US">
              <a:latin typeface="+mn-ea"/>
              <a:cs typeface="+mn-ea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39445" y="1421130"/>
            <a:ext cx="5838190" cy="5875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ru-RU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ФУНКЦИОНАЛ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: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None/>
            </a:pP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АВТОМАТИЗИРОВАННЫЙ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СБОР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ДАННЫХ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ОТЕЧЕСТВЕННЫХ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УСТРОЙСТВ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СИСТЕМ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.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None/>
            </a:pP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АВТОНОМНЫЙ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АНАЛИЗ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АНАЛИЗОВ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ЭМК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ДЛЯ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НАЦИОНАЛЬНОЙ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БАЗЫ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ЗДОРОВЬЯ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.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None/>
            </a:pP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РЕКОМЕНДАЦИИ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ПО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ДИАГНОСТИКЕ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ПРОФИЛАКТИКЕ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ПРЕДОТВРАЩЕНИЮ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РИСКОВ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.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None/>
            </a:pP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ИНТЕРФЕЙСЫ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ДЛЯ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ВРАЧЕЙ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(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ДАННЫЕ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АНАЛИТИКА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)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ПАЦИЕНТОВ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(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ПРОСМОТР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ВЗАИМОДЕЙСТВИЕ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).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None/>
            </a:pP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УДАЛЕННОЕ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КОНСУЛЬТИРОВАНИЕ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ДИАГНОСТИКА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ОСОБЕННО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ОТДАЛЕННЫХ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РЕГИОНАХ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.</a:t>
            </a:r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СНИЖЕНИЕ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НАГРУЗКИ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НА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УЧРЕЖДЕНИЯ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.</a:t>
            </a:r>
            <a:endParaRPr lang="en-US" altLang="en-US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744970" y="1388110"/>
            <a:ext cx="465328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ПРИНЦИПИАЛЬНАЯ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СХЕМА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ПРОЕКТА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endParaRPr lang="en-US" altLang="ru-RU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СБОР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ДАННЫХ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—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ИЗ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РАЗЛИЧНЫХ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ИСТОЧНИКОВ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УСТРОЙСТВА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БАЗЫ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).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ОБРАБОТКА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ДАННЫХ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—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ОЧИСТКА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НОРМАЛИЗАЦИЯ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АНАЛИТИКА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—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ПРИМЕНЕНИЕ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АЛГОРИТМОВ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(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МАШИННОЕ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ОБУЧЕНИЕ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НЕЙРОСЕТИ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).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ВЫВОД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РЕЗУЛЬТАТОВ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—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ВИДЕ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РЕКОМЕНДАЦИЙ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ОТЧЕТОВ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ИНТЕРФЕЙСОВ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ОБРАТНАЯ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СВЯЗЬ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—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УЛУЧШЕНИЕ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МОДЕЛЕЙ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НА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ОСНОВЕ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НОВЫХ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ДАННЫХ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ОТЗЫВОВ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0080" y="751205"/>
            <a:ext cx="10686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КОНЦЕПЦИЯ ТЕХНИЧЕСКОГО ЗАДАНИЯ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4983480" y="1840230"/>
            <a:ext cx="4055110" cy="4726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ru-RU" altLang="en-US">
              <a:latin typeface="+mn-ea"/>
              <a:cs typeface="+mn-ea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935990" y="1840230"/>
            <a:ext cx="4161790" cy="5875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СТЕЙКХОЛДЕРЫ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ЗАКАЗЧИК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ПРОЕКТА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:</a:t>
            </a:r>
            <a:endParaRPr lang="en-US" altLang="ru-RU" sz="2000" b="1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ВРАЧИ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МЕДИЦИНСКИЙ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ПЕРСОНАЛ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ПАЦИЕНТЫ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РАЗРАБОТЧИКИ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ТЕХНИЧЕСКИЕ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СПЕЦИАЛИСТЫ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МЕДИЦИНСКИЕ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УЧРЕЖДЕНИЯ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КЛИНИКИ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ЗАКОНОДАТЕЛЬНЫЕ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ОРГАНЫ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РЕГУЛЯТОРЫ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  <a:cs typeface="+mn-lt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929630" y="1660525"/>
            <a:ext cx="546862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РЕЗУЛЬТАТЫ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ПРОДУКТ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ПРОЕКТА</a:t>
            </a:r>
            <a:r>
              <a:rPr lang="en-US" altLang="ru-RU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endParaRPr lang="en-US" altLang="ru-RU" sz="20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ИНТЕЛЛЕКТУАЛЬНАЯ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СИСТЕМА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МОНИТОРИНГА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АВТОНОМНОГО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АНАЛИЗА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МЕДДАННЫХ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УПРОЩЕНИЕ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УСКОРЕНИЕ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ПРОЦЕССА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ПРИНЯТИЯ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РЕШЕНИЙ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В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МЕДИЦИНЕ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ru-RU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АНАЛИЗ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ЗДОРОВЬЯ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НАСЕЛЕНИЯ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НА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ОСНОВЕ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БАЗЫ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ДАННЫХ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ПОВЫШЕНИЕ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ТОЧНОСТИ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ДИАГНОСТИК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ЭФФЕКТИВНОСТИ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ЛЕЧЕНИЯ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altLang="ru-RU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ИНТЕРАКТИВНЫЙ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ИНТЕРФЕЙС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ДЛЯ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ПОЛЬЗОВАТЕЛЕЙ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И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АНАЛИТИЧЕСКИЕ</a:t>
            </a:r>
            <a:r>
              <a:rPr lang="en-US" altLang="ru-RU" sz="20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ОТЧЕТЫ</a:t>
            </a:r>
            <a:endParaRPr lang="en-US" alt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220" y="751205"/>
            <a:ext cx="106864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</a:t>
            </a:r>
            <a:r>
              <a:rPr lang="ru-RU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ОРОЖНАЯ КАРТА ПО ВНЕДРЕНИЮ РЕШЕНИЯ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algn="ctr"/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87070" y="1530985"/>
            <a:ext cx="1097280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Цель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программы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«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Хелснет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»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2035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году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превратить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Россию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глобального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лидера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области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цифрового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здравоохранения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персонализированной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: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увеличить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продолжительность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жизни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10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лет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обеспечить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70%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отечественного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производства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продуктов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сектора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занять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пятое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место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мире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объему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рынка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Реализация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строится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трех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этапах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Первый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этап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закладка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основ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: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создание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инфраструктуры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НИЦ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центров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профилактики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стартап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-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инкубаторов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;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разработка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нормативных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актов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запуск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пяти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базовых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инновационных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продуктов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геномных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тестов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цифровых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ассистентов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врачей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Второй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этап</a:t>
            </a:r>
            <a:r>
              <a:rPr lang="ru-RU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масштабирование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: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развитие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среднего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бизнеса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создание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сети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из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3500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центров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профилактической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интеграция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цифровых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решений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государственную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систему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здравоохранения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выход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российских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компаний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международные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рынки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Третий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этап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доминирование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: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персонализированная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становится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стандартом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Россия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занимает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лидирующие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позиции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мировой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индустрии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70%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всех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продуктов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производятся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внутри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страны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220" y="751205"/>
            <a:ext cx="106864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</a:t>
            </a:r>
            <a:r>
              <a:rPr lang="ru-RU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ОРОЖНАЯ КАРТА ПО ВНЕДРЕНИЮ РЕШЕНИЯ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algn="ctr"/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24840" y="1530985"/>
            <a:ext cx="1110234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Программа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охватывает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семь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приоритетных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направлений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: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информационные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технологии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(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Big Data,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электронные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карты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здоровья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),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биомедицина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геномика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здоровое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долголетие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спорт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здоровье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профилактическая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(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центральное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направление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сетью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центров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),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медицинская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генетика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организационно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-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ресурсное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обеспечение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Главные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риски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связаны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нормативным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вакуумом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отсутствием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четких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правил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для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цифровых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устройств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генетических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данных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что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замедляет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регистрацию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продуктов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Также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существует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дефицит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квалифицированных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кадров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биоинформатиков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специалистов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медицинским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инженерам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Финансирование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остается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непростым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вызовом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особенно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этапе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коммерциализации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Популяризация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технологий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среди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населения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требует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активной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просветительской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работы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интеграция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инноваций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устаревшую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систему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здравоохранения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сталкивается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технической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несовместимостью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Для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преодоления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рисков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предусмотрены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меры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: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срочная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модернизация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законодательства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создание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образовательных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треков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вузах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привлечение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венчурного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капитала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через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ГЧП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обязательная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стандартизация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интерфейсов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7" name="矩形 6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9" name="图片 8" descr="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5400000">
            <a:off x="2171528" y="-2933871"/>
            <a:ext cx="7622663" cy="1305327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40113" y="367207"/>
            <a:ext cx="11511775" cy="612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220" y="751205"/>
            <a:ext cx="106864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</a:t>
            </a:r>
            <a:r>
              <a:rPr lang="ru-RU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ОРОЖНАЯ КАРТА ПО ВНЕДРЕНИЮ РЕШЕНИЯ</a:t>
            </a:r>
            <a:endParaRPr lang="en-US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algn="ctr"/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4715" y="1530985"/>
            <a:ext cx="1017651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Wingdings" panose="05000000000000000000" charset="0"/>
              <a:buNone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Ключевые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показатели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успеха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абстрактные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цели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конкретные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достижения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: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2035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году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более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3500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центров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профилактики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5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российских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компаний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топ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-70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мировых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лидеров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70%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продукции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отечественного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производства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5%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доли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России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мировом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рынке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«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Хелснет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»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$9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трлн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Уже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2019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году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были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созданы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первые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прототипы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цифровых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ассистентов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аналогичных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Watson,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запущена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сеть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центров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Москве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регионах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разработаны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уникальные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методики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диагностики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старения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иммунотерапии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Суть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«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Хелснет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»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фундаментальный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переход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реактивной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медицины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когда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лечат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болезнь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проактивной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—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предиктивной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персонализированной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профилактической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Это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просто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проект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трансформация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всей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системы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: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даст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новое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качество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жизни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сократит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затраты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на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лечение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хронических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заболеваний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создаст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более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300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тысяч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новых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рабочих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мест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станет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стратегическим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экономическим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драйвером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,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обеспечивающим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технологический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суверенитет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и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устойчивое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развитие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страны</a:t>
            </a: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.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 </a:t>
            </a:r>
            <a:endParaRPr lang="en-US" altLang="ru-RU" sz="20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27100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600835" y="1575435"/>
            <a:ext cx="7089775" cy="1071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zh-CN" sz="5400" b="1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Open Sans ExtraBold" panose="020B0906030804020204" charset="0"/>
                <a:ea typeface="Nunito Sans" charset="0"/>
                <a:cs typeface="Open Sans ExtraBold" panose="020B0906030804020204" charset="0"/>
              </a:rPr>
              <a:t>СОСТАВ КОМАНДЫ</a:t>
            </a:r>
            <a:endParaRPr lang="ru-RU" altLang="zh-CN" sz="5400" b="1" cap="all" dirty="0">
              <a:solidFill>
                <a:schemeClr val="tx1">
                  <a:lumMod val="65000"/>
                  <a:lumOff val="35000"/>
                </a:schemeClr>
              </a:solidFill>
              <a:uFillTx/>
              <a:latin typeface="Open Sans ExtraBold" panose="020B0906030804020204" charset="0"/>
              <a:ea typeface="Nunito Sans" charset="0"/>
              <a:cs typeface="Open Sans ExtraBold" panose="020B0906030804020204" charset="0"/>
            </a:endParaRPr>
          </a:p>
        </p:txBody>
      </p:sp>
      <p:sp>
        <p:nvSpPr>
          <p:cNvPr id="7" name="副标题 2"/>
          <p:cNvSpPr txBox="1"/>
          <p:nvPr/>
        </p:nvSpPr>
        <p:spPr>
          <a:xfrm>
            <a:off x="1600835" y="2788920"/>
            <a:ext cx="4022725" cy="91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 Sans" charset="0"/>
                <a:ea typeface="Nunito Sans" charset="0"/>
                <a:cs typeface="Nunito Sans" charset="0"/>
              </a:rPr>
              <a:t>Я И ИНТЕРНЕТ</a:t>
            </a:r>
            <a:endParaRPr lang="ru-RU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Nunito Sans" charset="0"/>
              <a:ea typeface="Nunito Sans" charset="0"/>
              <a:cs typeface="Nunito Sans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600835" y="2477135"/>
            <a:ext cx="71773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 rot="19920000">
            <a:off x="-1277937" y="-892175"/>
            <a:ext cx="7416800" cy="10546715"/>
          </a:xfrm>
          <a:prstGeom prst="rect">
            <a:avLst/>
          </a:prstGeom>
          <a:gradFill>
            <a:gsLst>
              <a:gs pos="0">
                <a:srgbClr val="A5CDD1"/>
              </a:gs>
              <a:gs pos="50000">
                <a:srgbClr val="A5CDD1"/>
              </a:gs>
              <a:gs pos="50000">
                <a:srgbClr val="F8FAF9"/>
              </a:gs>
              <a:gs pos="100000">
                <a:srgbClr val="F8FAF9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3" name="矩形 2"/>
          <p:cNvSpPr/>
          <p:nvPr/>
        </p:nvSpPr>
        <p:spPr>
          <a:xfrm rot="19920000">
            <a:off x="6053138" y="-2796540"/>
            <a:ext cx="7416800" cy="10546715"/>
          </a:xfrm>
          <a:prstGeom prst="rect">
            <a:avLst/>
          </a:prstGeom>
          <a:gradFill>
            <a:gsLst>
              <a:gs pos="0">
                <a:srgbClr val="D1E5EA"/>
              </a:gs>
              <a:gs pos="50000">
                <a:srgbClr val="D1E5EA"/>
              </a:gs>
              <a:gs pos="50000">
                <a:srgbClr val="F8FAF9"/>
              </a:gs>
              <a:gs pos="100000">
                <a:srgbClr val="F8FAF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Nunito Sans" charset="0"/>
            </a:endParaRPr>
          </a:p>
        </p:txBody>
      </p:sp>
      <p:pic>
        <p:nvPicPr>
          <p:cNvPr id="4" name="图片 3" descr="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 rot="5400000">
            <a:off x="2578100" y="-2216150"/>
            <a:ext cx="6845300" cy="117221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07745" y="679450"/>
            <a:ext cx="10337800" cy="5499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Nunito Sans" charset="0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516380" y="2593340"/>
            <a:ext cx="8968740" cy="1671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zh-CN" sz="5400" b="1" cap="all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ea typeface="Nunito Sans" charset="0"/>
                <a:cs typeface="+mj-lt"/>
              </a:rPr>
              <a:t>СПАСИБО ЗА ВНИМАНИЕ</a:t>
            </a:r>
            <a:endParaRPr lang="ru-RU" altLang="zh-CN" sz="5400" b="1" cap="all" dirty="0">
              <a:solidFill>
                <a:schemeClr val="tx1">
                  <a:lumMod val="65000"/>
                  <a:lumOff val="35000"/>
                </a:schemeClr>
              </a:solidFill>
              <a:uFillTx/>
              <a:ea typeface="Nunito Sans" charset="0"/>
              <a:cs typeface="+mj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507615" y="4183380"/>
            <a:ext cx="717738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2.xml><?xml version="1.0" encoding="utf-8"?>
<p:tagLst xmlns:p="http://schemas.openxmlformats.org/presentationml/2006/main">
  <p:tag name="KSO_WM_UNIT_PLACING_PICTURE_USER_VIEWPORT" val="{&quot;height&quot;:1599.4692913385827,&quot;width&quot;:4895.343307086614}"/>
</p:tagLst>
</file>

<file path=ppt/tags/tag3.xml><?xml version="1.0" encoding="utf-8"?>
<p:tagLst xmlns:p="http://schemas.openxmlformats.org/presentationml/2006/main">
  <p:tag name="KSO_WM_UNIT_PLACING_PICTURE_USER_VIEWPORT" val="{&quot;height&quot;:1599.4692913385827,&quot;width&quot;:4895.343307086614}"/>
</p:tagLst>
</file>

<file path=ppt/tags/tag4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5.xml><?xml version="1.0" encoding="utf-8"?>
<p:tagLst xmlns:p="http://schemas.openxmlformats.org/presentationml/2006/main">
  <p:tag name="KSO_WM_UNIT_PLACING_PICTURE_USER_VIEWPORT" val="{&quot;height&quot;:18460,&quot;width&quot;:10780}"/>
</p:tagLst>
</file>

<file path=ppt/tags/tag6.xml><?xml version="1.0" encoding="utf-8"?>
<p:tagLst xmlns:p="http://schemas.openxmlformats.org/presentationml/2006/main">
  <p:tag name="KSO_WPP_MARK_KEY" val="19439bb6-c017-49bb-acea-dd3dfbf8be85"/>
  <p:tag name="COMMONDATA" val="eyJoZGlkIjoiMmNmYmEwOWQ4Y2Q0M2IxMGZkNjI4ZjhkZDQyNzg1OT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unito Sans Light"/>
        <a:ea typeface=""/>
        <a:cs typeface=""/>
        <a:font script="Jpan" typeface="游ゴシック Light"/>
        <a:font script="Hang" typeface="맑은 고딕"/>
        <a:font script="Hans" typeface="Nunito Sans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Nunito Sans"/>
        <a:font script="Hant" typeface="新細明體"/>
        <a:font script="Arab" typeface="Nunito Sans"/>
        <a:font script="Hebr" typeface="Nunito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unito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unito Sans Light"/>
        <a:ea typeface=""/>
        <a:cs typeface=""/>
        <a:font script="Jpan" typeface="游ゴシック Light"/>
        <a:font script="Hang" typeface="맑은 고딕"/>
        <a:font script="Hans" typeface="Nunito Sans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Nunito Sans"/>
        <a:font script="Hant" typeface="新細明體"/>
        <a:font script="Arab" typeface="Nunito Sans"/>
        <a:font script="Hebr" typeface="Nunito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unito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Nunito 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 Sans ExtraBold"/>
        <a:ea typeface=""/>
        <a:cs typeface=""/>
        <a:font script="Jpan" typeface="ＭＳ Ｐゴシック"/>
        <a:font script="Hang" typeface="맑은 고딕"/>
        <a:font script="Hans" typeface="Nunito Sans"/>
        <a:font script="Hant" typeface="新細明體"/>
        <a:font script="Arab" typeface="Nunito Sans"/>
        <a:font script="Hebr" typeface="Nunito 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Nunito 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9202</Words>
  <Application>WPS Presentation</Application>
  <PresentationFormat>宽屏</PresentationFormat>
  <Paragraphs>165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Nunito Sans</vt:lpstr>
      <vt:lpstr>Nunito Sans Light</vt:lpstr>
      <vt:lpstr>Nunito Sans ExtraBold</vt:lpstr>
      <vt:lpstr>Open Sans ExtraBold</vt:lpstr>
      <vt:lpstr>Wingdings</vt:lpstr>
      <vt:lpstr>Oswald</vt:lpstr>
      <vt:lpstr>Segoe Print</vt:lpstr>
      <vt:lpstr>Tahoma</vt:lpstr>
      <vt:lpstr>Microsoft YaHei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 strator</dc:creator>
  <cp:lastModifiedBy>Тульна</cp:lastModifiedBy>
  <cp:revision>24</cp:revision>
  <dcterms:created xsi:type="dcterms:W3CDTF">2020-05-07T17:08:00Z</dcterms:created>
  <dcterms:modified xsi:type="dcterms:W3CDTF">2025-09-17T20:05:54Z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BE3B4D148EF34D2394B2B11BBFFF4418_11</vt:lpwstr>
  </property>
  <property fmtid="{D5CDD505-2E9C-101B-9397-08002B2CF9AE}" pid="3" name="KSOProductBuildVer">
    <vt:lpwstr>1049-12.2.0.22549</vt:lpwstr>
  </property>
</Properties>
</file>